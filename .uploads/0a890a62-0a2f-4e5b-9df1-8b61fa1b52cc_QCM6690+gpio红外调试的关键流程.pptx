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326" r:id="rId3"/>
    <p:sldId id="1381" r:id="rId4"/>
    <p:sldId id="1382" r:id="rId6"/>
    <p:sldId id="1379" r:id="rId7"/>
    <p:sldId id="1383" r:id="rId8"/>
    <p:sldId id="1389" r:id="rId9"/>
    <p:sldId id="1384" r:id="rId10"/>
    <p:sldId id="1392" r:id="rId11"/>
    <p:sldId id="1398" r:id="rId12"/>
    <p:sldId id="1396" r:id="rId13"/>
    <p:sldId id="1397" r:id="rId14"/>
    <p:sldId id="1386" r:id="rId15"/>
    <p:sldId id="1390" r:id="rId16"/>
    <p:sldId id="1391" r:id="rId17"/>
    <p:sldId id="1380" r:id="rId18"/>
    <p:sldId id="337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1" userDrawn="1">
          <p15:clr>
            <a:srgbClr val="A4A3A4"/>
          </p15:clr>
        </p15:guide>
        <p15:guide id="2" pos="384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B1B5"/>
    <a:srgbClr val="B9474D"/>
    <a:srgbClr val="FFFFFF"/>
    <a:srgbClr val="B8494F"/>
    <a:srgbClr val="C44F3C"/>
    <a:srgbClr val="7CA193"/>
    <a:srgbClr val="1010F0"/>
    <a:srgbClr val="BA494F"/>
    <a:srgbClr val="A5B07B"/>
    <a:srgbClr val="F1F1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192" autoAdjust="0"/>
    <p:restoredTop sz="93963" autoAdjust="0"/>
  </p:normalViewPr>
  <p:slideViewPr>
    <p:cSldViewPr snapToGrid="0" showGuides="1">
      <p:cViewPr varScale="1">
        <p:scale>
          <a:sx n="121" d="100"/>
          <a:sy n="121" d="100"/>
        </p:scale>
        <p:origin x="254" y="86"/>
      </p:cViewPr>
      <p:guideLst>
        <p:guide orient="horz" pos="2211"/>
        <p:guide pos="384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7" d="100"/>
          <a:sy n="57" d="100"/>
        </p:scale>
        <p:origin x="2808" y="3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commentAuthors" Target="commentAuthors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E800AD-93AD-4C4C-85DD-6086F39F5F4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A8361D-8C5B-4832-B897-84B74FD7AE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6C7896-21A7-4116-BB89-450D77FD43F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6C7896-21A7-4116-BB89-450D77FD43F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6C7896-21A7-4116-BB89-450D77FD43F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6C7896-21A7-4116-BB89-450D77FD43F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6C7896-21A7-4116-BB89-450D77FD43F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6C7896-21A7-4116-BB89-450D77FD43F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7501" y="94782"/>
            <a:ext cx="7052899" cy="889066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7501" y="94782"/>
            <a:ext cx="7052899" cy="889066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7501" y="94782"/>
            <a:ext cx="7052899" cy="889066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1669" y="6401522"/>
            <a:ext cx="4114800" cy="365125"/>
          </a:xfrm>
        </p:spPr>
        <p:txBody>
          <a:bodyPr/>
          <a:lstStyle>
            <a:lvl1pPr algn="l">
              <a:defRPr sz="16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/>
              <a:t>Company Name</a:t>
            </a:r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9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C:\Users\Administrator\Desktop\图片11.png图片11"/>
          <p:cNvPicPr>
            <a:picLocks noChangeAspect="1"/>
          </p:cNvPicPr>
          <p:nvPr userDrawn="1"/>
        </p:nvPicPr>
        <p:blipFill>
          <a:blip r:embed="rId10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0" kern="1200" spc="200" baseline="0">
          <a:ln>
            <a:noFill/>
          </a:ln>
          <a:solidFill>
            <a:srgbClr val="53585B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hyperlink" Target="http://192.168.117.71/#/c/73569/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C:\Users\Administrator\Desktop\02-3.png02-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444077" y="5617029"/>
            <a:ext cx="3752014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提交人（团队）：软件二部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刘骐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志提交日期：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09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07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394264" y="4579767"/>
            <a:ext cx="726122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SW-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驱动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-infrared-20260826 QCM6690gpio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模拟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pwm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遥控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红外调试</a:t>
            </a:r>
            <a:endParaRPr lang="en-US" altLang="zh-CN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498465" y="3728085"/>
            <a:ext cx="1207135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dirty="0">
                <a:solidFill>
                  <a:srgbClr val="E1B1B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DK120</a:t>
            </a:r>
            <a:endParaRPr lang="en-US" altLang="zh-CN" sz="2000" dirty="0">
              <a:solidFill>
                <a:srgbClr val="E1B1B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6"/>
          <p:cNvSpPr/>
          <p:nvPr/>
        </p:nvSpPr>
        <p:spPr bwMode="auto">
          <a:xfrm rot="20546595">
            <a:off x="6295069" y="422813"/>
            <a:ext cx="577096" cy="6739350"/>
          </a:xfrm>
          <a:custGeom>
            <a:avLst/>
            <a:gdLst/>
            <a:ahLst/>
            <a:cxnLst/>
            <a:rect l="l" t="t" r="r" b="b"/>
            <a:pathLst>
              <a:path w="576064" h="7725782">
                <a:moveTo>
                  <a:pt x="576064" y="249967"/>
                </a:moveTo>
                <a:lnTo>
                  <a:pt x="576064" y="7725782"/>
                </a:lnTo>
                <a:lnTo>
                  <a:pt x="0" y="7475815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75000"/>
                </a:schemeClr>
              </a:gs>
              <a:gs pos="100000">
                <a:sysClr val="window" lastClr="FFFFFF">
                  <a:lumMod val="85000"/>
                  <a:shade val="100000"/>
                  <a:satMod val="115000"/>
                  <a:alpha val="0"/>
                </a:sysClr>
              </a:gs>
            </a:gsLst>
            <a:lin ang="0" scaled="1"/>
            <a:tileRect/>
          </a:gra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>
              <a:defRPr/>
            </a:pPr>
            <a:endParaRPr lang="zh-CN" altLang="en-US" sz="1400" kern="0">
              <a:solidFill>
                <a:sysClr val="window" lastClr="FFFFFF"/>
              </a:solidFill>
              <a:ea typeface="宋体" panose="02010600030101010101" pitchFamily="2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572086" y="2400713"/>
            <a:ext cx="2574328" cy="618480"/>
          </a:xfrm>
          <a:custGeom>
            <a:avLst/>
            <a:gdLst>
              <a:gd name="connsiteX0" fmla="*/ 0 w 1954517"/>
              <a:gd name="connsiteY0" fmla="*/ 0 h 612217"/>
              <a:gd name="connsiteX1" fmla="*/ 1954517 w 1954517"/>
              <a:gd name="connsiteY1" fmla="*/ 0 h 612217"/>
              <a:gd name="connsiteX2" fmla="*/ 1954517 w 1954517"/>
              <a:gd name="connsiteY2" fmla="*/ 612217 h 612217"/>
              <a:gd name="connsiteX3" fmla="*/ 0 w 1954517"/>
              <a:gd name="connsiteY3" fmla="*/ 612217 h 612217"/>
              <a:gd name="connsiteX4" fmla="*/ 0 w 1954517"/>
              <a:gd name="connsiteY4" fmla="*/ 0 h 612217"/>
              <a:gd name="connsiteX0-1" fmla="*/ 0 w 1954517"/>
              <a:gd name="connsiteY0-2" fmla="*/ 0 h 612217"/>
              <a:gd name="connsiteX1-3" fmla="*/ 1954517 w 1954517"/>
              <a:gd name="connsiteY1-4" fmla="*/ 0 h 612217"/>
              <a:gd name="connsiteX2-5" fmla="*/ 1954517 w 1954517"/>
              <a:gd name="connsiteY2-6" fmla="*/ 612217 h 612217"/>
              <a:gd name="connsiteX3-7" fmla="*/ 162838 w 1954517"/>
              <a:gd name="connsiteY3-8" fmla="*/ 612217 h 612217"/>
              <a:gd name="connsiteX4-9" fmla="*/ 0 w 1954517"/>
              <a:gd name="connsiteY4-10" fmla="*/ 0 h 612217"/>
              <a:gd name="connsiteX0-11" fmla="*/ 0 w 1954517"/>
              <a:gd name="connsiteY0-12" fmla="*/ 0 h 618480"/>
              <a:gd name="connsiteX1-13" fmla="*/ 1954517 w 1954517"/>
              <a:gd name="connsiteY1-14" fmla="*/ 0 h 618480"/>
              <a:gd name="connsiteX2-15" fmla="*/ 1954517 w 1954517"/>
              <a:gd name="connsiteY2-16" fmla="*/ 612217 h 618480"/>
              <a:gd name="connsiteX3-17" fmla="*/ 124233 w 1954517"/>
              <a:gd name="connsiteY3-18" fmla="*/ 618480 h 618480"/>
              <a:gd name="connsiteX4-19" fmla="*/ 0 w 1954517"/>
              <a:gd name="connsiteY4-20" fmla="*/ 0 h 618480"/>
              <a:gd name="connsiteX0-21" fmla="*/ 0 w 1983470"/>
              <a:gd name="connsiteY0-22" fmla="*/ 0 h 618480"/>
              <a:gd name="connsiteX1-23" fmla="*/ 1983470 w 1983470"/>
              <a:gd name="connsiteY1-24" fmla="*/ 0 h 618480"/>
              <a:gd name="connsiteX2-25" fmla="*/ 1983470 w 1983470"/>
              <a:gd name="connsiteY2-26" fmla="*/ 612217 h 618480"/>
              <a:gd name="connsiteX3-27" fmla="*/ 153186 w 1983470"/>
              <a:gd name="connsiteY3-28" fmla="*/ 618480 h 618480"/>
              <a:gd name="connsiteX4-29" fmla="*/ 0 w 1983470"/>
              <a:gd name="connsiteY4-30" fmla="*/ 0 h 61848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983470" h="618480">
                <a:moveTo>
                  <a:pt x="0" y="0"/>
                </a:moveTo>
                <a:lnTo>
                  <a:pt x="1983470" y="0"/>
                </a:lnTo>
                <a:lnTo>
                  <a:pt x="1983470" y="612217"/>
                </a:lnTo>
                <a:lnTo>
                  <a:pt x="153186" y="618480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02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问题描述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21"/>
          <p:cNvSpPr/>
          <p:nvPr/>
        </p:nvSpPr>
        <p:spPr>
          <a:xfrm>
            <a:off x="6246968" y="1369998"/>
            <a:ext cx="2574328" cy="618480"/>
          </a:xfrm>
          <a:custGeom>
            <a:avLst/>
            <a:gdLst>
              <a:gd name="connsiteX0" fmla="*/ 0 w 1954517"/>
              <a:gd name="connsiteY0" fmla="*/ 0 h 612217"/>
              <a:gd name="connsiteX1" fmla="*/ 1954517 w 1954517"/>
              <a:gd name="connsiteY1" fmla="*/ 0 h 612217"/>
              <a:gd name="connsiteX2" fmla="*/ 1954517 w 1954517"/>
              <a:gd name="connsiteY2" fmla="*/ 612217 h 612217"/>
              <a:gd name="connsiteX3" fmla="*/ 0 w 1954517"/>
              <a:gd name="connsiteY3" fmla="*/ 612217 h 612217"/>
              <a:gd name="connsiteX4" fmla="*/ 0 w 1954517"/>
              <a:gd name="connsiteY4" fmla="*/ 0 h 612217"/>
              <a:gd name="connsiteX0-1" fmla="*/ 0 w 1954517"/>
              <a:gd name="connsiteY0-2" fmla="*/ 0 h 612217"/>
              <a:gd name="connsiteX1-3" fmla="*/ 1954517 w 1954517"/>
              <a:gd name="connsiteY1-4" fmla="*/ 0 h 612217"/>
              <a:gd name="connsiteX2-5" fmla="*/ 1954517 w 1954517"/>
              <a:gd name="connsiteY2-6" fmla="*/ 612217 h 612217"/>
              <a:gd name="connsiteX3-7" fmla="*/ 162838 w 1954517"/>
              <a:gd name="connsiteY3-8" fmla="*/ 612217 h 612217"/>
              <a:gd name="connsiteX4-9" fmla="*/ 0 w 1954517"/>
              <a:gd name="connsiteY4-10" fmla="*/ 0 h 612217"/>
              <a:gd name="connsiteX0-11" fmla="*/ 0 w 1954517"/>
              <a:gd name="connsiteY0-12" fmla="*/ 0 h 618480"/>
              <a:gd name="connsiteX1-13" fmla="*/ 1954517 w 1954517"/>
              <a:gd name="connsiteY1-14" fmla="*/ 0 h 618480"/>
              <a:gd name="connsiteX2-15" fmla="*/ 1954517 w 1954517"/>
              <a:gd name="connsiteY2-16" fmla="*/ 612217 h 618480"/>
              <a:gd name="connsiteX3-17" fmla="*/ 124233 w 1954517"/>
              <a:gd name="connsiteY3-18" fmla="*/ 618480 h 618480"/>
              <a:gd name="connsiteX4-19" fmla="*/ 0 w 1954517"/>
              <a:gd name="connsiteY4-20" fmla="*/ 0 h 618480"/>
              <a:gd name="connsiteX0-21" fmla="*/ 0 w 1983470"/>
              <a:gd name="connsiteY0-22" fmla="*/ 0 h 618480"/>
              <a:gd name="connsiteX1-23" fmla="*/ 1983470 w 1983470"/>
              <a:gd name="connsiteY1-24" fmla="*/ 0 h 618480"/>
              <a:gd name="connsiteX2-25" fmla="*/ 1983470 w 1983470"/>
              <a:gd name="connsiteY2-26" fmla="*/ 612217 h 618480"/>
              <a:gd name="connsiteX3-27" fmla="*/ 153186 w 1983470"/>
              <a:gd name="connsiteY3-28" fmla="*/ 618480 h 618480"/>
              <a:gd name="connsiteX4-29" fmla="*/ 0 w 1983470"/>
              <a:gd name="connsiteY4-30" fmla="*/ 0 h 61848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983470" h="618480">
                <a:moveTo>
                  <a:pt x="0" y="0"/>
                </a:moveTo>
                <a:lnTo>
                  <a:pt x="1983470" y="0"/>
                </a:lnTo>
                <a:lnTo>
                  <a:pt x="1983470" y="612217"/>
                </a:lnTo>
                <a:lnTo>
                  <a:pt x="153186" y="618480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01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关键字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1006671" y="1080493"/>
            <a:ext cx="1659156" cy="1659156"/>
            <a:chOff x="976853" y="2668361"/>
            <a:chExt cx="1659156" cy="1659156"/>
          </a:xfrm>
        </p:grpSpPr>
        <p:sp>
          <p:nvSpPr>
            <p:cNvPr id="16" name="泪滴形 15"/>
            <p:cNvSpPr/>
            <p:nvPr/>
          </p:nvSpPr>
          <p:spPr>
            <a:xfrm rot="10784163">
              <a:off x="976853" y="2668361"/>
              <a:ext cx="1659156" cy="1659156"/>
            </a:xfrm>
            <a:prstGeom prst="teardrop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1098545" y="3267106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案例总结</a:t>
              </a:r>
              <a:endPara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" name="矩形 21"/>
          <p:cNvSpPr/>
          <p:nvPr/>
        </p:nvSpPr>
        <p:spPr>
          <a:xfrm>
            <a:off x="7250703" y="4556395"/>
            <a:ext cx="2574328" cy="618480"/>
          </a:xfrm>
          <a:custGeom>
            <a:avLst/>
            <a:gdLst>
              <a:gd name="connsiteX0" fmla="*/ 0 w 1954517"/>
              <a:gd name="connsiteY0" fmla="*/ 0 h 612217"/>
              <a:gd name="connsiteX1" fmla="*/ 1954517 w 1954517"/>
              <a:gd name="connsiteY1" fmla="*/ 0 h 612217"/>
              <a:gd name="connsiteX2" fmla="*/ 1954517 w 1954517"/>
              <a:gd name="connsiteY2" fmla="*/ 612217 h 612217"/>
              <a:gd name="connsiteX3" fmla="*/ 0 w 1954517"/>
              <a:gd name="connsiteY3" fmla="*/ 612217 h 612217"/>
              <a:gd name="connsiteX4" fmla="*/ 0 w 1954517"/>
              <a:gd name="connsiteY4" fmla="*/ 0 h 612217"/>
              <a:gd name="connsiteX0-1" fmla="*/ 0 w 1954517"/>
              <a:gd name="connsiteY0-2" fmla="*/ 0 h 612217"/>
              <a:gd name="connsiteX1-3" fmla="*/ 1954517 w 1954517"/>
              <a:gd name="connsiteY1-4" fmla="*/ 0 h 612217"/>
              <a:gd name="connsiteX2-5" fmla="*/ 1954517 w 1954517"/>
              <a:gd name="connsiteY2-6" fmla="*/ 612217 h 612217"/>
              <a:gd name="connsiteX3-7" fmla="*/ 162838 w 1954517"/>
              <a:gd name="connsiteY3-8" fmla="*/ 612217 h 612217"/>
              <a:gd name="connsiteX4-9" fmla="*/ 0 w 1954517"/>
              <a:gd name="connsiteY4-10" fmla="*/ 0 h 612217"/>
              <a:gd name="connsiteX0-11" fmla="*/ 0 w 1954517"/>
              <a:gd name="connsiteY0-12" fmla="*/ 0 h 618480"/>
              <a:gd name="connsiteX1-13" fmla="*/ 1954517 w 1954517"/>
              <a:gd name="connsiteY1-14" fmla="*/ 0 h 618480"/>
              <a:gd name="connsiteX2-15" fmla="*/ 1954517 w 1954517"/>
              <a:gd name="connsiteY2-16" fmla="*/ 612217 h 618480"/>
              <a:gd name="connsiteX3-17" fmla="*/ 124233 w 1954517"/>
              <a:gd name="connsiteY3-18" fmla="*/ 618480 h 618480"/>
              <a:gd name="connsiteX4-19" fmla="*/ 0 w 1954517"/>
              <a:gd name="connsiteY4-20" fmla="*/ 0 h 618480"/>
              <a:gd name="connsiteX0-21" fmla="*/ 0 w 1983470"/>
              <a:gd name="connsiteY0-22" fmla="*/ 0 h 618480"/>
              <a:gd name="connsiteX1-23" fmla="*/ 1983470 w 1983470"/>
              <a:gd name="connsiteY1-24" fmla="*/ 0 h 618480"/>
              <a:gd name="connsiteX2-25" fmla="*/ 1983470 w 1983470"/>
              <a:gd name="connsiteY2-26" fmla="*/ 612217 h 618480"/>
              <a:gd name="connsiteX3-27" fmla="*/ 153186 w 1983470"/>
              <a:gd name="connsiteY3-28" fmla="*/ 618480 h 618480"/>
              <a:gd name="connsiteX4-29" fmla="*/ 0 w 1983470"/>
              <a:gd name="connsiteY4-30" fmla="*/ 0 h 61848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983470" h="618480">
                <a:moveTo>
                  <a:pt x="0" y="0"/>
                </a:moveTo>
                <a:lnTo>
                  <a:pt x="1983470" y="0"/>
                </a:lnTo>
                <a:lnTo>
                  <a:pt x="1983470" y="612217"/>
                </a:lnTo>
                <a:lnTo>
                  <a:pt x="153186" y="618480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04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解决方案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21"/>
          <p:cNvSpPr/>
          <p:nvPr/>
        </p:nvSpPr>
        <p:spPr>
          <a:xfrm>
            <a:off x="6915680" y="3478554"/>
            <a:ext cx="2574328" cy="618480"/>
          </a:xfrm>
          <a:custGeom>
            <a:avLst/>
            <a:gdLst>
              <a:gd name="connsiteX0" fmla="*/ 0 w 1954517"/>
              <a:gd name="connsiteY0" fmla="*/ 0 h 612217"/>
              <a:gd name="connsiteX1" fmla="*/ 1954517 w 1954517"/>
              <a:gd name="connsiteY1" fmla="*/ 0 h 612217"/>
              <a:gd name="connsiteX2" fmla="*/ 1954517 w 1954517"/>
              <a:gd name="connsiteY2" fmla="*/ 612217 h 612217"/>
              <a:gd name="connsiteX3" fmla="*/ 0 w 1954517"/>
              <a:gd name="connsiteY3" fmla="*/ 612217 h 612217"/>
              <a:gd name="connsiteX4" fmla="*/ 0 w 1954517"/>
              <a:gd name="connsiteY4" fmla="*/ 0 h 612217"/>
              <a:gd name="connsiteX0-1" fmla="*/ 0 w 1954517"/>
              <a:gd name="connsiteY0-2" fmla="*/ 0 h 612217"/>
              <a:gd name="connsiteX1-3" fmla="*/ 1954517 w 1954517"/>
              <a:gd name="connsiteY1-4" fmla="*/ 0 h 612217"/>
              <a:gd name="connsiteX2-5" fmla="*/ 1954517 w 1954517"/>
              <a:gd name="connsiteY2-6" fmla="*/ 612217 h 612217"/>
              <a:gd name="connsiteX3-7" fmla="*/ 162838 w 1954517"/>
              <a:gd name="connsiteY3-8" fmla="*/ 612217 h 612217"/>
              <a:gd name="connsiteX4-9" fmla="*/ 0 w 1954517"/>
              <a:gd name="connsiteY4-10" fmla="*/ 0 h 612217"/>
              <a:gd name="connsiteX0-11" fmla="*/ 0 w 1954517"/>
              <a:gd name="connsiteY0-12" fmla="*/ 0 h 618480"/>
              <a:gd name="connsiteX1-13" fmla="*/ 1954517 w 1954517"/>
              <a:gd name="connsiteY1-14" fmla="*/ 0 h 618480"/>
              <a:gd name="connsiteX2-15" fmla="*/ 1954517 w 1954517"/>
              <a:gd name="connsiteY2-16" fmla="*/ 612217 h 618480"/>
              <a:gd name="connsiteX3-17" fmla="*/ 124233 w 1954517"/>
              <a:gd name="connsiteY3-18" fmla="*/ 618480 h 618480"/>
              <a:gd name="connsiteX4-19" fmla="*/ 0 w 1954517"/>
              <a:gd name="connsiteY4-20" fmla="*/ 0 h 618480"/>
              <a:gd name="connsiteX0-21" fmla="*/ 0 w 1983470"/>
              <a:gd name="connsiteY0-22" fmla="*/ 0 h 618480"/>
              <a:gd name="connsiteX1-23" fmla="*/ 1983470 w 1983470"/>
              <a:gd name="connsiteY1-24" fmla="*/ 0 h 618480"/>
              <a:gd name="connsiteX2-25" fmla="*/ 1983470 w 1983470"/>
              <a:gd name="connsiteY2-26" fmla="*/ 612217 h 618480"/>
              <a:gd name="connsiteX3-27" fmla="*/ 153186 w 1983470"/>
              <a:gd name="connsiteY3-28" fmla="*/ 618480 h 618480"/>
              <a:gd name="connsiteX4-29" fmla="*/ 0 w 1983470"/>
              <a:gd name="connsiteY4-30" fmla="*/ 0 h 61848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983470" h="618480">
                <a:moveTo>
                  <a:pt x="0" y="0"/>
                </a:moveTo>
                <a:lnTo>
                  <a:pt x="1983470" y="0"/>
                </a:lnTo>
                <a:lnTo>
                  <a:pt x="1983470" y="612217"/>
                </a:lnTo>
                <a:lnTo>
                  <a:pt x="153186" y="618480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03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分析过程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21"/>
          <p:cNvSpPr/>
          <p:nvPr/>
        </p:nvSpPr>
        <p:spPr>
          <a:xfrm>
            <a:off x="7645019" y="5634236"/>
            <a:ext cx="2574328" cy="618480"/>
          </a:xfrm>
          <a:custGeom>
            <a:avLst/>
            <a:gdLst>
              <a:gd name="connsiteX0" fmla="*/ 0 w 1954517"/>
              <a:gd name="connsiteY0" fmla="*/ 0 h 612217"/>
              <a:gd name="connsiteX1" fmla="*/ 1954517 w 1954517"/>
              <a:gd name="connsiteY1" fmla="*/ 0 h 612217"/>
              <a:gd name="connsiteX2" fmla="*/ 1954517 w 1954517"/>
              <a:gd name="connsiteY2" fmla="*/ 612217 h 612217"/>
              <a:gd name="connsiteX3" fmla="*/ 0 w 1954517"/>
              <a:gd name="connsiteY3" fmla="*/ 612217 h 612217"/>
              <a:gd name="connsiteX4" fmla="*/ 0 w 1954517"/>
              <a:gd name="connsiteY4" fmla="*/ 0 h 612217"/>
              <a:gd name="connsiteX0-1" fmla="*/ 0 w 1954517"/>
              <a:gd name="connsiteY0-2" fmla="*/ 0 h 612217"/>
              <a:gd name="connsiteX1-3" fmla="*/ 1954517 w 1954517"/>
              <a:gd name="connsiteY1-4" fmla="*/ 0 h 612217"/>
              <a:gd name="connsiteX2-5" fmla="*/ 1954517 w 1954517"/>
              <a:gd name="connsiteY2-6" fmla="*/ 612217 h 612217"/>
              <a:gd name="connsiteX3-7" fmla="*/ 162838 w 1954517"/>
              <a:gd name="connsiteY3-8" fmla="*/ 612217 h 612217"/>
              <a:gd name="connsiteX4-9" fmla="*/ 0 w 1954517"/>
              <a:gd name="connsiteY4-10" fmla="*/ 0 h 612217"/>
              <a:gd name="connsiteX0-11" fmla="*/ 0 w 1954517"/>
              <a:gd name="connsiteY0-12" fmla="*/ 0 h 618480"/>
              <a:gd name="connsiteX1-13" fmla="*/ 1954517 w 1954517"/>
              <a:gd name="connsiteY1-14" fmla="*/ 0 h 618480"/>
              <a:gd name="connsiteX2-15" fmla="*/ 1954517 w 1954517"/>
              <a:gd name="connsiteY2-16" fmla="*/ 612217 h 618480"/>
              <a:gd name="connsiteX3-17" fmla="*/ 124233 w 1954517"/>
              <a:gd name="connsiteY3-18" fmla="*/ 618480 h 618480"/>
              <a:gd name="connsiteX4-19" fmla="*/ 0 w 1954517"/>
              <a:gd name="connsiteY4-20" fmla="*/ 0 h 618480"/>
              <a:gd name="connsiteX0-21" fmla="*/ 0 w 1983470"/>
              <a:gd name="connsiteY0-22" fmla="*/ 0 h 618480"/>
              <a:gd name="connsiteX1-23" fmla="*/ 1983470 w 1983470"/>
              <a:gd name="connsiteY1-24" fmla="*/ 0 h 618480"/>
              <a:gd name="connsiteX2-25" fmla="*/ 1983470 w 1983470"/>
              <a:gd name="connsiteY2-26" fmla="*/ 612217 h 618480"/>
              <a:gd name="connsiteX3-27" fmla="*/ 153186 w 1983470"/>
              <a:gd name="connsiteY3-28" fmla="*/ 618480 h 618480"/>
              <a:gd name="connsiteX4-29" fmla="*/ 0 w 1983470"/>
              <a:gd name="connsiteY4-30" fmla="*/ 0 h 61848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983470" h="618480">
                <a:moveTo>
                  <a:pt x="0" y="0"/>
                </a:moveTo>
                <a:lnTo>
                  <a:pt x="1983470" y="0"/>
                </a:lnTo>
                <a:lnTo>
                  <a:pt x="1983470" y="612217"/>
                </a:lnTo>
                <a:lnTo>
                  <a:pt x="153186" y="618480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05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泪滴形 34"/>
          <p:cNvSpPr/>
          <p:nvPr/>
        </p:nvSpPr>
        <p:spPr>
          <a:xfrm rot="10784163">
            <a:off x="3910172" y="2889005"/>
            <a:ext cx="1269666" cy="1143243"/>
          </a:xfrm>
          <a:prstGeom prst="teardrop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6" name="组合 35"/>
          <p:cNvGrpSpPr/>
          <p:nvPr/>
        </p:nvGrpSpPr>
        <p:grpSpPr>
          <a:xfrm>
            <a:off x="3978183" y="2858672"/>
            <a:ext cx="4416954" cy="1092606"/>
            <a:chOff x="121371" y="710377"/>
            <a:chExt cx="4416954" cy="1092606"/>
          </a:xfrm>
        </p:grpSpPr>
        <p:sp>
          <p:nvSpPr>
            <p:cNvPr id="37" name="文本框 36"/>
            <p:cNvSpPr txBox="1"/>
            <p:nvPr/>
          </p:nvSpPr>
          <p:spPr>
            <a:xfrm>
              <a:off x="121371" y="787320"/>
              <a:ext cx="1133644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6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zh-CN" altLang="en-US" sz="6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2328262" y="710377"/>
              <a:ext cx="141577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3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关键字</a:t>
              </a:r>
              <a:endPara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39" name="直接连接符 38"/>
            <p:cNvCxnSpPr/>
            <p:nvPr/>
          </p:nvCxnSpPr>
          <p:spPr>
            <a:xfrm>
              <a:off x="1617111" y="1346257"/>
              <a:ext cx="2921214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17443" y="178904"/>
            <a:ext cx="11464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spc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关键字</a:t>
            </a:r>
            <a:endParaRPr lang="zh-CN" altLang="en-US" sz="2400" b="1" spc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73300" y="934278"/>
            <a:ext cx="1129029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关键字：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GPIO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模拟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PWM；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红外载波频率；脉冲时序；占空比；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LIRC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驱动；无芯片方案；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 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关联领域： 驱动、红外遥控、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GPIO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 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概述： 使用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GPIO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模拟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PWM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实现红外遥控时，主要遇到载波频率精度不足导致遥控失效、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hal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侧服务缺失，需要添加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;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发送时序精度不足，多次调整后改善。修复红外概率性重启后无效的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bug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泪滴形 34"/>
          <p:cNvSpPr/>
          <p:nvPr/>
        </p:nvSpPr>
        <p:spPr>
          <a:xfrm rot="10784163">
            <a:off x="3910172" y="2889005"/>
            <a:ext cx="1269666" cy="1143243"/>
          </a:xfrm>
          <a:prstGeom prst="teardrop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6" name="组合 35"/>
          <p:cNvGrpSpPr/>
          <p:nvPr/>
        </p:nvGrpSpPr>
        <p:grpSpPr>
          <a:xfrm>
            <a:off x="3978182" y="2858672"/>
            <a:ext cx="5285891" cy="1092606"/>
            <a:chOff x="121371" y="710377"/>
            <a:chExt cx="4911380" cy="1092606"/>
          </a:xfrm>
        </p:grpSpPr>
        <p:sp>
          <p:nvSpPr>
            <p:cNvPr id="37" name="文本框 36"/>
            <p:cNvSpPr txBox="1"/>
            <p:nvPr/>
          </p:nvSpPr>
          <p:spPr>
            <a:xfrm>
              <a:off x="121371" y="787320"/>
              <a:ext cx="1133644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6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02</a:t>
              </a:r>
              <a:endParaRPr lang="zh-CN" altLang="en-US" sz="6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1127613" y="710377"/>
              <a:ext cx="390513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问题描述</a:t>
              </a:r>
              <a:endPara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39" name="直接连接符 38"/>
            <p:cNvCxnSpPr/>
            <p:nvPr/>
          </p:nvCxnSpPr>
          <p:spPr>
            <a:xfrm>
              <a:off x="1617111" y="1346257"/>
              <a:ext cx="2921214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74982" y="712126"/>
            <a:ext cx="11522765" cy="15684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技术背景（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Situation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00000"/>
              </a:lnSpc>
            </a:pPr>
            <a:r>
              <a:rPr lang="zh-CN" altLang="en-US" dirty="0"/>
              <a:t>在无芯片红外方案的平台上，需使用普通 </a:t>
            </a:r>
            <a:r>
              <a:rPr lang="en-US" altLang="zh-CN" dirty="0"/>
              <a:t>GPIO </a:t>
            </a:r>
            <a:r>
              <a:rPr lang="zh-CN" altLang="en-US" dirty="0"/>
              <a:t>通过软件模拟 </a:t>
            </a:r>
            <a:r>
              <a:rPr lang="en-US" altLang="zh-CN" dirty="0"/>
              <a:t>PWM </a:t>
            </a:r>
            <a:r>
              <a:rPr lang="zh-CN" altLang="en-US" dirty="0"/>
              <a:t>载波实现红外遥控功能。面临从底层 </a:t>
            </a:r>
            <a:r>
              <a:rPr lang="en-US" altLang="zh-CN" dirty="0"/>
              <a:t>GPIO </a:t>
            </a:r>
            <a:r>
              <a:rPr lang="zh-CN" altLang="en-US" dirty="0"/>
              <a:t>时序控制到 </a:t>
            </a:r>
            <a:r>
              <a:rPr lang="en-US" altLang="zh-CN" dirty="0"/>
              <a:t>LIRC </a:t>
            </a:r>
            <a:r>
              <a:rPr lang="zh-CN" altLang="en-US" dirty="0"/>
              <a:t>驱动适配到</a:t>
            </a:r>
            <a:r>
              <a:rPr lang="en-US" altLang="zh-CN" dirty="0"/>
              <a:t>hal</a:t>
            </a:r>
            <a:r>
              <a:rPr lang="zh-CN" altLang="en-US" dirty="0"/>
              <a:t>侧服务完善的全链路技术挑战，</a:t>
            </a:r>
            <a:r>
              <a:rPr lang="zh-CN" altLang="en-US" dirty="0">
                <a:sym typeface="Wingdings" panose="05000000000000000000" pitchFamily="2" charset="2"/>
              </a:rPr>
              <a:t>主要遇到载波频率精度不足导致遥控失效、hal侧服务缺失，需要添加;发送时序精度不足，多次调整后改善。</a:t>
            </a:r>
            <a:r>
              <a:rPr lang="zh-CN" altLang="en-US" dirty="0">
                <a:sym typeface="Wingdings" panose="05000000000000000000" pitchFamily="2" charset="2"/>
              </a:rPr>
              <a:t>以及红外概率性重启后无效的</a:t>
            </a:r>
            <a:r>
              <a:rPr lang="zh-CN" altLang="en-US" dirty="0">
                <a:sym typeface="Wingdings" panose="05000000000000000000" pitchFamily="2" charset="2"/>
              </a:rPr>
              <a:t>bug</a:t>
            </a:r>
            <a:endParaRPr lang="zh-CN" altLang="en-US" dirty="0">
              <a:sym typeface="Wingdings" panose="05000000000000000000" pitchFamily="2" charset="2"/>
            </a:endParaRPr>
          </a:p>
          <a:p>
            <a:pPr indent="457200">
              <a:lnSpc>
                <a:spcPct val="100000"/>
              </a:lnSpc>
            </a:pPr>
            <a:r>
              <a:rPr lang="zh-CN" altLang="en-US" dirty="0"/>
              <a:t>这些</a:t>
            </a:r>
            <a:r>
              <a:rPr lang="zh-CN" altLang="en-US" dirty="0"/>
              <a:t>问题需逐层排查并闭环解决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417443" y="178904"/>
            <a:ext cx="14670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spc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问题描述</a:t>
            </a:r>
            <a:endParaRPr lang="zh-CN" altLang="en-US" sz="2400" b="1" spc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259376" y="12018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泪滴形 34"/>
          <p:cNvSpPr/>
          <p:nvPr/>
        </p:nvSpPr>
        <p:spPr>
          <a:xfrm rot="10784163">
            <a:off x="3910172" y="2889005"/>
            <a:ext cx="1269666" cy="1143243"/>
          </a:xfrm>
          <a:prstGeom prst="teardrop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6" name="组合 35"/>
          <p:cNvGrpSpPr/>
          <p:nvPr/>
        </p:nvGrpSpPr>
        <p:grpSpPr>
          <a:xfrm>
            <a:off x="3978182" y="2858671"/>
            <a:ext cx="5841680" cy="1092607"/>
            <a:chOff x="121371" y="710376"/>
            <a:chExt cx="5427791" cy="1092607"/>
          </a:xfrm>
        </p:grpSpPr>
        <p:sp>
          <p:nvSpPr>
            <p:cNvPr id="37" name="文本框 36"/>
            <p:cNvSpPr txBox="1"/>
            <p:nvPr/>
          </p:nvSpPr>
          <p:spPr>
            <a:xfrm>
              <a:off x="121371" y="787320"/>
              <a:ext cx="1053324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6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03</a:t>
              </a:r>
              <a:endParaRPr lang="zh-CN" altLang="en-US" sz="6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1395427" y="710376"/>
              <a:ext cx="415373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39" name="直接连接符 38"/>
            <p:cNvCxnSpPr/>
            <p:nvPr/>
          </p:nvCxnSpPr>
          <p:spPr>
            <a:xfrm>
              <a:off x="1617111" y="1346257"/>
              <a:ext cx="2921214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9" name="文本框 8"/>
          <p:cNvSpPr txBox="1"/>
          <p:nvPr/>
        </p:nvSpPr>
        <p:spPr>
          <a:xfrm>
            <a:off x="5061154" y="2858672"/>
            <a:ext cx="41105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分析过程</a:t>
            </a:r>
            <a:endParaRPr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32740" y="807085"/>
            <a:ext cx="11390630" cy="586041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dirty="0"/>
              <a:t>一、底层驱动方案对比与选型</a:t>
            </a:r>
            <a:endParaRPr lang="zh-CN" altLang="en-US" dirty="0"/>
          </a:p>
          <a:p>
            <a:pPr>
              <a:lnSpc>
                <a:spcPct val="100000"/>
              </a:lnSpc>
            </a:pPr>
            <a:endParaRPr lang="en-US" altLang="zh-CN" dirty="0"/>
          </a:p>
          <a:p>
            <a:pPr>
              <a:lnSpc>
                <a:spcPct val="100000"/>
              </a:lnSpc>
            </a:pPr>
            <a:r>
              <a:rPr lang="zh-CN" altLang="en-US" dirty="0"/>
              <a:t>问题 1：红外脉冲发送机制选型——</a:t>
            </a:r>
            <a:r>
              <a:rPr lang="en-US" altLang="zh-CN" dirty="0"/>
              <a:t>hrtimer / CPU </a:t>
            </a:r>
            <a:r>
              <a:rPr lang="zh-CN" altLang="en-US" dirty="0"/>
              <a:t>轮询 / </a:t>
            </a:r>
            <a:r>
              <a:rPr lang="en-US" altLang="zh-CN" dirty="0"/>
              <a:t>busy-wait </a:t>
            </a:r>
            <a:r>
              <a:rPr lang="zh-CN" altLang="en-US" dirty="0"/>
              <a:t>调试过的三个方案对比</a:t>
            </a:r>
            <a:endParaRPr lang="en-US" altLang="zh-CN" dirty="0"/>
          </a:p>
          <a:p>
            <a:pPr>
              <a:lnSpc>
                <a:spcPct val="100000"/>
              </a:lnSpc>
            </a:pPr>
            <a:r>
              <a:rPr lang="zh-CN" altLang="en-US" dirty="0"/>
              <a:t>红外载波为 38</a:t>
            </a:r>
            <a:r>
              <a:rPr lang="en-US" altLang="zh-CN" dirty="0"/>
              <a:t>kHz，</a:t>
            </a:r>
            <a:r>
              <a:rPr lang="zh-CN" altLang="en-US" dirty="0"/>
              <a:t>单个脉冲周期约 26</a:t>
            </a:r>
            <a:r>
              <a:rPr lang="en-US" altLang="zh-CN" dirty="0"/>
              <a:t>μs，</a:t>
            </a:r>
            <a:r>
              <a:rPr lang="zh-CN" altLang="en-US" dirty="0"/>
              <a:t>对发送时序精度要求极高。围绕脉冲生成方式先后对比三种方案：</a:t>
            </a:r>
            <a:endParaRPr lang="zh-CN" altLang="en-US" dirty="0"/>
          </a:p>
          <a:p>
            <a:pPr>
              <a:lnSpc>
                <a:spcPct val="100000"/>
              </a:lnSpc>
            </a:pPr>
            <a:endParaRPr lang="en-US" altLang="zh-CN" dirty="0"/>
          </a:p>
          <a:p>
            <a:pPr>
              <a:lnSpc>
                <a:spcPct val="100000"/>
              </a:lnSpc>
            </a:pPr>
            <a:r>
              <a:rPr lang="zh-CN" altLang="en-US" dirty="0"/>
              <a:t>方案 </a:t>
            </a:r>
            <a:r>
              <a:rPr lang="en-US" altLang="zh-CN" dirty="0"/>
              <a:t>A：hrtimer </a:t>
            </a:r>
            <a:r>
              <a:rPr lang="zh-CN" altLang="en-US" dirty="0"/>
              <a:t>高精度定时器</a:t>
            </a:r>
            <a:endParaRPr lang="en-US" altLang="zh-CN" dirty="0"/>
          </a:p>
          <a:p>
            <a:pPr>
              <a:lnSpc>
                <a:spcPct val="100000"/>
              </a:lnSpc>
            </a:pPr>
            <a:r>
              <a:rPr lang="zh-CN" altLang="en-US" dirty="0"/>
              <a:t>思路：用 </a:t>
            </a:r>
            <a:r>
              <a:rPr lang="en-US" altLang="zh-CN" dirty="0"/>
              <a:t>hrtimer </a:t>
            </a:r>
            <a:r>
              <a:rPr lang="zh-CN" altLang="en-US" dirty="0"/>
              <a:t>周期触发中断，在中断回调里翻转 </a:t>
            </a:r>
            <a:r>
              <a:rPr lang="en-US" altLang="zh-CN" dirty="0"/>
              <a:t>PWM enable/disable。</a:t>
            </a:r>
            <a:endParaRPr lang="en-US" altLang="zh-CN" dirty="0"/>
          </a:p>
          <a:p>
            <a:pPr>
              <a:lnSpc>
                <a:spcPct val="100000"/>
              </a:lnSpc>
            </a:pPr>
            <a:r>
              <a:rPr lang="zh-CN" altLang="en-US" dirty="0"/>
              <a:t>否决理由：</a:t>
            </a:r>
            <a:r>
              <a:rPr lang="en-US" altLang="zh-CN" dirty="0"/>
              <a:t>hrtimer </a:t>
            </a:r>
            <a:r>
              <a:rPr lang="zh-CN" altLang="en-US" dirty="0"/>
              <a:t>虽标称纳秒级精度，但中断响应受系统负载、中断嵌套、</a:t>
            </a:r>
            <a:r>
              <a:rPr lang="en-US" altLang="zh-CN" dirty="0"/>
              <a:t>CPU </a:t>
            </a:r>
            <a:r>
              <a:rPr lang="zh-CN" altLang="en-US" dirty="0"/>
              <a:t>频率调度影响，实际抖动可达数十微秒级，在 26</a:t>
            </a:r>
            <a:r>
              <a:rPr lang="en-US" altLang="zh-CN" dirty="0"/>
              <a:t>μs </a:t>
            </a:r>
            <a:r>
              <a:rPr lang="zh-CN" altLang="en-US" dirty="0"/>
              <a:t>载波周期下抖动占比过高，导致占空比与码距漂移，遥控命中率下降。</a:t>
            </a:r>
            <a:endParaRPr lang="zh-CN" altLang="en-US" dirty="0"/>
          </a:p>
          <a:p>
            <a:pPr>
              <a:lnSpc>
                <a:spcPct val="100000"/>
              </a:lnSpc>
            </a:pPr>
            <a:r>
              <a:rPr lang="zh-CN" altLang="en-US" dirty="0"/>
              <a:t>现象：遥控格力空调</a:t>
            </a:r>
            <a:r>
              <a:rPr lang="en-US" altLang="zh-CN" dirty="0"/>
              <a:t>(</a:t>
            </a:r>
            <a:r>
              <a:rPr lang="zh-CN" altLang="en-US" dirty="0"/>
              <a:t>一次遥控发送</a:t>
            </a:r>
            <a:r>
              <a:rPr lang="en-US" altLang="zh-CN" dirty="0"/>
              <a:t>240</a:t>
            </a:r>
            <a:r>
              <a:rPr lang="zh-CN" altLang="en-US" dirty="0"/>
              <a:t>多个数据</a:t>
            </a:r>
            <a:r>
              <a:rPr lang="en-US" altLang="zh-CN" dirty="0"/>
              <a:t>) </a:t>
            </a:r>
            <a:r>
              <a:rPr lang="zh-CN" altLang="en-US" dirty="0"/>
              <a:t>经常无法</a:t>
            </a:r>
            <a:r>
              <a:rPr lang="zh-CN" altLang="en-US" dirty="0"/>
              <a:t>遥控</a:t>
            </a:r>
            <a:endParaRPr lang="zh-CN" altLang="en-US" dirty="0"/>
          </a:p>
          <a:p>
            <a:pPr>
              <a:lnSpc>
                <a:spcPct val="100000"/>
              </a:lnSpc>
            </a:pPr>
            <a:endParaRPr lang="zh-CN" altLang="en-US" dirty="0"/>
          </a:p>
          <a:p>
            <a:pPr>
              <a:lnSpc>
                <a:spcPct val="100000"/>
              </a:lnSpc>
            </a:pPr>
            <a:r>
              <a:rPr lang="zh-CN" altLang="en-US" dirty="0"/>
              <a:t>方案 </a:t>
            </a:r>
            <a:r>
              <a:rPr lang="en-US" altLang="zh-CN" dirty="0"/>
              <a:t>B：CPU </a:t>
            </a:r>
            <a:r>
              <a:rPr lang="zh-CN" altLang="en-US" dirty="0"/>
              <a:t>轮询 + 精确时间戳</a:t>
            </a:r>
            <a:endParaRPr lang="en-US" altLang="zh-CN" dirty="0"/>
          </a:p>
          <a:p>
            <a:pPr>
              <a:lnSpc>
                <a:spcPct val="100000"/>
              </a:lnSpc>
            </a:pPr>
            <a:r>
              <a:rPr lang="zh-CN" altLang="en-US" dirty="0"/>
              <a:t>思路：在线程中用 </a:t>
            </a:r>
            <a:r>
              <a:rPr lang="en-US" altLang="zh-CN" dirty="0"/>
              <a:t>ktime_get() </a:t>
            </a:r>
            <a:r>
              <a:rPr lang="zh-CN" altLang="en-US" dirty="0"/>
              <a:t>轮询时间戳翻转 </a:t>
            </a:r>
            <a:r>
              <a:rPr lang="en-US" altLang="zh-CN" dirty="0"/>
              <a:t>GPIO/PWM。</a:t>
            </a:r>
            <a:endParaRPr lang="en-US" altLang="zh-CN" dirty="0"/>
          </a:p>
          <a:p>
            <a:pPr>
              <a:lnSpc>
                <a:spcPct val="100000"/>
              </a:lnSpc>
            </a:pPr>
            <a:r>
              <a:rPr lang="zh-CN" altLang="en-US" dirty="0"/>
              <a:t>否决理由：发送一轮 </a:t>
            </a:r>
            <a:r>
              <a:rPr lang="en-US" altLang="zh-CN" dirty="0"/>
              <a:t>NEC </a:t>
            </a:r>
            <a:r>
              <a:rPr lang="zh-CN" altLang="en-US" dirty="0"/>
              <a:t>码需数十毫秒级占用 </a:t>
            </a:r>
            <a:r>
              <a:rPr lang="en-US" altLang="zh-CN" dirty="0"/>
              <a:t>CPU </a:t>
            </a:r>
            <a:r>
              <a:rPr lang="zh-CN" altLang="en-US" dirty="0"/>
              <a:t>全速轮询，造成系统明显卡顿。</a:t>
            </a:r>
            <a:endParaRPr lang="zh-CN" altLang="en-US" dirty="0"/>
          </a:p>
          <a:p>
            <a:pPr>
              <a:lnSpc>
                <a:spcPct val="100000"/>
              </a:lnSpc>
            </a:pPr>
            <a:r>
              <a:rPr lang="zh-CN" altLang="en-US" dirty="0"/>
              <a:t>现象：使用遥控精灵</a:t>
            </a:r>
            <a:r>
              <a:rPr lang="en-US" altLang="zh-CN" dirty="0"/>
              <a:t>app</a:t>
            </a:r>
            <a:r>
              <a:rPr lang="zh-CN" altLang="en-US" dirty="0"/>
              <a:t>，点击发送数据后整个系统会卡顿</a:t>
            </a:r>
            <a:r>
              <a:rPr lang="en-US" altLang="zh-CN" dirty="0"/>
              <a:t>1s</a:t>
            </a:r>
            <a:r>
              <a:rPr lang="zh-CN" altLang="en-US" dirty="0"/>
              <a:t>左右。</a:t>
            </a:r>
            <a:endParaRPr lang="zh-CN" altLang="en-US" dirty="0"/>
          </a:p>
          <a:p>
            <a:pPr>
              <a:lnSpc>
                <a:spcPct val="100000"/>
              </a:lnSpc>
            </a:pPr>
            <a:endParaRPr lang="zh-CN" altLang="en-US" dirty="0"/>
          </a:p>
          <a:p>
            <a:pPr>
              <a:lnSpc>
                <a:spcPct val="100000"/>
              </a:lnSpc>
            </a:pPr>
            <a:r>
              <a:rPr lang="zh-CN" altLang="en-US" dirty="0"/>
              <a:t>方案 </a:t>
            </a:r>
            <a:r>
              <a:rPr lang="en-US" altLang="zh-CN" dirty="0"/>
              <a:t>C：busy-wait（pwm enable/disable + udelay）（</a:t>
            </a:r>
            <a:r>
              <a:rPr lang="zh-CN" altLang="en-US" dirty="0"/>
              <a:t>最终采用）</a:t>
            </a:r>
            <a:endParaRPr lang="en-US" altLang="zh-CN" dirty="0"/>
          </a:p>
          <a:p>
            <a:pPr>
              <a:lnSpc>
                <a:spcPct val="100000"/>
              </a:lnSpc>
            </a:pPr>
            <a:r>
              <a:rPr lang="zh-CN" altLang="en-US" dirty="0"/>
              <a:t>实现：见 </a:t>
            </a:r>
            <a:r>
              <a:rPr lang="en-US" altLang="zh-CN" dirty="0"/>
              <a:t>pwm_ir_tx_transmit，</a:t>
            </a:r>
            <a:r>
              <a:rPr lang="zh-CN" altLang="en-US" dirty="0"/>
              <a:t>奇数索引 </a:t>
            </a:r>
            <a:r>
              <a:rPr lang="en-US" altLang="zh-CN" dirty="0"/>
              <a:t>pwm_disable、</a:t>
            </a:r>
            <a:r>
              <a:rPr lang="zh-CN" altLang="en-US" dirty="0"/>
              <a:t>偶数索引 </a:t>
            </a:r>
            <a:r>
              <a:rPr lang="en-US" altLang="zh-CN" dirty="0"/>
              <a:t>pwm_enable，</a:t>
            </a:r>
            <a:r>
              <a:rPr lang="zh-CN" altLang="en-US" dirty="0"/>
              <a:t>期间用 </a:t>
            </a:r>
            <a:r>
              <a:rPr lang="en-US" altLang="zh-CN" dirty="0"/>
              <a:t>udelay(txbuf[i]) </a:t>
            </a:r>
            <a:r>
              <a:rPr lang="zh-CN" altLang="en-US" dirty="0"/>
              <a:t>控制脉冲宽度。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417443" y="178904"/>
            <a:ext cx="14670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spc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分析过程</a:t>
            </a:r>
            <a:endParaRPr lang="zh-CN" altLang="en-US" sz="2400" b="1" spc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17443" y="178904"/>
            <a:ext cx="14670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spc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分析过程</a:t>
            </a:r>
            <a:endParaRPr lang="zh-CN" altLang="en-US" sz="2400" b="1" spc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64861" y="870256"/>
            <a:ext cx="3611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多次优化红外发送</a:t>
            </a:r>
            <a:r>
              <a:rPr lang="zh-CN" altLang="en-US" dirty="0"/>
              <a:t>驱动的上传记录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3876675" y="685800"/>
            <a:ext cx="7749540" cy="10306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dirty="0"/>
              <a:t>http://192.168.117.71/#/c/76298/   </a:t>
            </a:r>
            <a:r>
              <a:rPr lang="zh-CN" altLang="en-US" dirty="0"/>
              <a:t>最终方案，下图为最后方案的上传</a:t>
            </a:r>
            <a:r>
              <a:rPr lang="zh-CN" altLang="en-US" dirty="0"/>
              <a:t>记录</a:t>
            </a:r>
            <a:endParaRPr lang="zh-CN" altLang="en-US" dirty="0"/>
          </a:p>
          <a:p>
            <a:r>
              <a:rPr lang="en-US" altLang="zh-CN" dirty="0"/>
              <a:t>http://192.168.117.71/#/c/75274/3</a:t>
            </a:r>
            <a:endParaRPr lang="en-US" altLang="zh-CN" dirty="0"/>
          </a:p>
          <a:p>
            <a:r>
              <a:rPr lang="en-US" altLang="zh-CN" dirty="0"/>
              <a:t>http://192.168.117.71/#/c/74204/1</a:t>
            </a:r>
            <a:endParaRPr lang="en-US" altLang="zh-CN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4795" y="1716405"/>
            <a:ext cx="5330190" cy="388366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7975" y="1826895"/>
            <a:ext cx="4838700" cy="38830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54600" y="4029075"/>
            <a:ext cx="6806565" cy="252984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332449" y="807054"/>
            <a:ext cx="11390790" cy="5354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dirty="0"/>
              <a:t>问题 2：红外灯概率性不亮</a:t>
            </a:r>
            <a:endParaRPr lang="en-US" altLang="zh-CN" dirty="0"/>
          </a:p>
          <a:p>
            <a:pPr>
              <a:lnSpc>
                <a:spcPct val="100000"/>
              </a:lnSpc>
            </a:pPr>
            <a:r>
              <a:rPr lang="zh-CN" altLang="en-US" dirty="0"/>
              <a:t>发送机制选定后，红外灯仍概率性不亮，触发场景集中在"首次刷机后、重启后首次发送、厂测首次触发、</a:t>
            </a:r>
            <a:r>
              <a:rPr lang="en-US" altLang="zh-CN" dirty="0"/>
              <a:t>APK </a:t>
            </a:r>
            <a:r>
              <a:rPr lang="zh-CN" altLang="en-US" dirty="0"/>
              <a:t>首次打开 38000 遥控器"。</a:t>
            </a:r>
            <a:endParaRPr lang="zh-CN" altLang="en-US" dirty="0"/>
          </a:p>
          <a:p>
            <a:pPr>
              <a:lnSpc>
                <a:spcPct val="100000"/>
              </a:lnSpc>
            </a:pPr>
            <a:r>
              <a:rPr lang="zh-CN" altLang="en-US" dirty="0"/>
              <a:t>分析：刷机后首个开机周期，</a:t>
            </a:r>
            <a:r>
              <a:rPr lang="en-US" altLang="zh-CN" dirty="0"/>
              <a:t>probe </a:t>
            </a:r>
            <a:r>
              <a:rPr lang="zh-CN" altLang="en-US" dirty="0"/>
              <a:t>阶段那次 </a:t>
            </a:r>
            <a:r>
              <a:rPr lang="en-US" altLang="zh-CN" dirty="0"/>
              <a:t>config </a:t>
            </a:r>
            <a:r>
              <a:rPr lang="zh-CN" altLang="en-US" dirty="0"/>
              <a:t>没能把 </a:t>
            </a:r>
            <a:r>
              <a:rPr lang="en-US" altLang="zh-CN" dirty="0"/>
              <a:t>GPIO/pinctrl </a:t>
            </a:r>
            <a:r>
              <a:rPr lang="zh-CN" altLang="en-US" dirty="0"/>
              <a:t>真正落定（最可能是首刷首开机负载重、</a:t>
            </a:r>
            <a:r>
              <a:rPr lang="en-US" altLang="zh-CN" dirty="0"/>
              <a:t>gpio-pwm provider </a:t>
            </a:r>
            <a:r>
              <a:rPr lang="zh-CN" altLang="en-US" dirty="0"/>
              <a:t>与 </a:t>
            </a:r>
            <a:r>
              <a:rPr lang="en-US" altLang="zh-CN" dirty="0"/>
              <a:t>pwm-ir-tx </a:t>
            </a:r>
            <a:r>
              <a:rPr lang="zh-CN" altLang="en-US" dirty="0"/>
              <a:t>的 </a:t>
            </a:r>
            <a:r>
              <a:rPr lang="en-US" altLang="zh-CN" dirty="0"/>
              <a:t>probe </a:t>
            </a:r>
            <a:r>
              <a:rPr lang="zh-CN" altLang="en-US" dirty="0"/>
              <a:t>顺序/</a:t>
            </a:r>
            <a:r>
              <a:rPr lang="en-US" altLang="zh-CN" dirty="0"/>
              <a:t>EPROBE_DEFER </a:t>
            </a:r>
            <a:r>
              <a:rPr lang="zh-CN" altLang="en-US" dirty="0"/>
              <a:t>时序和正常重启不一样，导致 </a:t>
            </a:r>
            <a:r>
              <a:rPr lang="en-US" altLang="zh-CN" dirty="0"/>
              <a:t>pwm-ir</a:t>
            </a:r>
            <a:endParaRPr lang="en-US" altLang="zh-CN" dirty="0"/>
          </a:p>
          <a:p>
            <a:pPr>
              <a:lnSpc>
                <a:spcPct val="100000"/>
              </a:lnSpc>
            </a:pPr>
            <a:r>
              <a:rPr lang="zh-CN" altLang="en-US" dirty="0"/>
              <a:t>  配置时底层 </a:t>
            </a:r>
            <a:r>
              <a:rPr lang="en-US" altLang="zh-CN" dirty="0"/>
              <a:t>gpio-pwm </a:t>
            </a:r>
            <a:r>
              <a:rPr lang="zh-CN" altLang="en-US" dirty="0"/>
              <a:t>还没 </a:t>
            </a:r>
            <a:r>
              <a:rPr lang="en-US" altLang="zh-CN" dirty="0"/>
              <a:t>ready，config </a:t>
            </a:r>
            <a:r>
              <a:rPr lang="zh-CN" altLang="en-US" dirty="0"/>
              <a:t>静默不生效）</a:t>
            </a:r>
            <a:endParaRPr lang="zh-CN" altLang="en-US" dirty="0"/>
          </a:p>
          <a:p>
            <a:pPr>
              <a:lnSpc>
                <a:spcPct val="100000"/>
              </a:lnSpc>
            </a:pPr>
            <a:r>
              <a:rPr lang="zh-CN" altLang="en-US" dirty="0"/>
              <a:t>现象：重启后厂测红外</a:t>
            </a:r>
            <a:r>
              <a:rPr lang="en-US" altLang="zh-CN" dirty="0"/>
              <a:t>(38000hz)</a:t>
            </a:r>
            <a:r>
              <a:rPr lang="zh-CN" altLang="en-US" dirty="0"/>
              <a:t>和</a:t>
            </a:r>
            <a:r>
              <a:rPr lang="en-US" altLang="zh-CN" dirty="0"/>
              <a:t>38000hz</a:t>
            </a:r>
            <a:r>
              <a:rPr lang="zh-CN" altLang="en-US" dirty="0"/>
              <a:t>的遥控器如果无法开机第一次使用就一直无法使用，只能重启或者使用非</a:t>
            </a:r>
            <a:r>
              <a:rPr lang="en-US" altLang="zh-CN" dirty="0"/>
              <a:t>38000hz</a:t>
            </a:r>
            <a:r>
              <a:rPr lang="zh-CN" altLang="en-US" dirty="0"/>
              <a:t>的遥控器，比如</a:t>
            </a:r>
            <a:r>
              <a:rPr lang="en-US" altLang="zh-CN" dirty="0"/>
              <a:t>38170hz</a:t>
            </a:r>
            <a:r>
              <a:rPr lang="zh-CN" altLang="en-US" dirty="0"/>
              <a:t>，这样检测到频率不同驱动就会重跑一次 </a:t>
            </a:r>
            <a:r>
              <a:rPr lang="en-US" altLang="zh-CN" dirty="0"/>
              <a:t>pwm_config，</a:t>
            </a:r>
            <a:r>
              <a:rPr lang="zh-CN" altLang="en-US" dirty="0"/>
              <a:t>把</a:t>
            </a:r>
            <a:r>
              <a:rPr lang="en-US" altLang="zh-CN" dirty="0"/>
              <a:t>GPIO/pinctrl/carrier </a:t>
            </a:r>
            <a:r>
              <a:rPr lang="zh-CN" altLang="en-US" dirty="0"/>
              <a:t>补齐 </a:t>
            </a:r>
            <a:r>
              <a:rPr lang="en-US" altLang="zh-CN" dirty="0"/>
              <a:t>arm</a:t>
            </a:r>
            <a:r>
              <a:rPr lang="zh-CN" altLang="en-US" dirty="0"/>
              <a:t>。这样所有的遥控场景都会好用，包括</a:t>
            </a:r>
            <a:r>
              <a:rPr lang="zh-CN" altLang="en-US" dirty="0"/>
              <a:t>厂测。</a:t>
            </a:r>
            <a:endParaRPr lang="zh-CN" altLang="en-US" dirty="0"/>
          </a:p>
          <a:p>
            <a:pPr>
              <a:lnSpc>
                <a:spcPct val="100000"/>
              </a:lnSpc>
            </a:pPr>
            <a:r>
              <a:rPr lang="zh-CN" altLang="en-US" dirty="0"/>
              <a:t>原因：</a:t>
            </a:r>
            <a:r>
              <a:rPr lang="en-US" altLang="zh-CN" dirty="0"/>
              <a:t>probe</a:t>
            </a:r>
            <a:r>
              <a:rPr lang="zh-CN" altLang="en-US" dirty="0"/>
              <a:t>阶段配置了默认频率</a:t>
            </a:r>
            <a:r>
              <a:rPr lang="en-US" altLang="zh-CN" dirty="0"/>
              <a:t>38000</a:t>
            </a:r>
            <a:r>
              <a:rPr lang="zh-CN" altLang="en-US" dirty="0"/>
              <a:t>和占空比</a:t>
            </a:r>
            <a:r>
              <a:rPr lang="en-US" altLang="zh-CN" dirty="0"/>
              <a:t>50</a:t>
            </a:r>
            <a:endParaRPr lang="en-US" altLang="zh-CN" dirty="0"/>
          </a:p>
          <a:p>
            <a:pPr>
              <a:lnSpc>
                <a:spcPct val="100000"/>
              </a:lnSpc>
            </a:pPr>
            <a:r>
              <a:rPr lang="zh-CN" altLang="en-US" dirty="0"/>
              <a:t>方案：移除</a:t>
            </a:r>
            <a:r>
              <a:rPr lang="en-US" altLang="zh-CN" dirty="0"/>
              <a:t>probe</a:t>
            </a:r>
            <a:r>
              <a:rPr lang="zh-CN" altLang="en-US" dirty="0"/>
              <a:t>阶段的</a:t>
            </a:r>
            <a:r>
              <a:rPr lang="en-US" altLang="zh-CN" dirty="0">
                <a:sym typeface="+mn-ea"/>
              </a:rPr>
              <a:t>pwm_ir_tx_config</a:t>
            </a:r>
            <a:r>
              <a:rPr lang="zh-CN" altLang="en-US" dirty="0">
                <a:sym typeface="+mn-ea"/>
              </a:rPr>
              <a:t>配置函数，改为</a:t>
            </a:r>
            <a:r>
              <a:rPr lang="zh-CN" altLang="en-US" dirty="0"/>
              <a:t>每次 </a:t>
            </a:r>
            <a:r>
              <a:rPr lang="en-US" altLang="zh-CN" dirty="0"/>
              <a:t>transmit </a:t>
            </a:r>
            <a:r>
              <a:rPr lang="zh-CN" altLang="en-US" dirty="0"/>
              <a:t>都调用 </a:t>
            </a:r>
            <a:r>
              <a:rPr lang="en-US" altLang="zh-CN" dirty="0"/>
              <a:t>pwm_ir_tx_config</a:t>
            </a:r>
            <a:endParaRPr lang="zh-CN" altLang="en-US" dirty="0"/>
          </a:p>
          <a:p>
            <a:pPr>
              <a:lnSpc>
                <a:spcPct val="100000"/>
              </a:lnSpc>
            </a:pPr>
            <a:endParaRPr lang="en-US" altLang="zh-CN" dirty="0"/>
          </a:p>
          <a:p>
            <a:pPr>
              <a:lnSpc>
                <a:spcPct val="100000"/>
              </a:lnSpc>
            </a:pPr>
            <a:r>
              <a:rPr lang="zh-CN" altLang="en-US" dirty="0"/>
              <a:t>实现：不依赖任何易失状态，每次发送前</a:t>
            </a:r>
            <a:endParaRPr lang="zh-CN" altLang="en-US" dirty="0"/>
          </a:p>
          <a:p>
            <a:pPr>
              <a:lnSpc>
                <a:spcPct val="100000"/>
              </a:lnSpc>
            </a:pPr>
            <a:r>
              <a:rPr lang="zh-CN" altLang="en-US" dirty="0"/>
              <a:t>将硬件刷新到正确 </a:t>
            </a:r>
            <a:r>
              <a:rPr lang="en-US" altLang="zh-CN" dirty="0"/>
              <a:t>carrier/duty_cycle，</a:t>
            </a:r>
            <a:r>
              <a:rPr lang="zh-CN" altLang="en-US" dirty="0"/>
              <a:t>彻底消除</a:t>
            </a:r>
            <a:endParaRPr lang="zh-CN" altLang="en-US" dirty="0"/>
          </a:p>
          <a:p>
            <a:pPr>
              <a:lnSpc>
                <a:spcPct val="100000"/>
              </a:lnSpc>
            </a:pPr>
            <a:r>
              <a:rPr lang="zh-CN" altLang="en-US" dirty="0"/>
              <a:t> </a:t>
            </a:r>
            <a:r>
              <a:rPr lang="en-US" altLang="zh-CN" dirty="0"/>
              <a:t>probe </a:t>
            </a:r>
            <a:r>
              <a:rPr lang="zh-CN" altLang="en-US" dirty="0"/>
              <a:t>配置丢失导致的不亮；</a:t>
            </a:r>
            <a:endParaRPr lang="zh-CN" altLang="en-US" dirty="0"/>
          </a:p>
          <a:p>
            <a:pPr>
              <a:lnSpc>
                <a:spcPct val="100000"/>
              </a:lnSpc>
            </a:pPr>
            <a:r>
              <a:rPr lang="zh-CN" altLang="en-US" dirty="0"/>
              <a:t>对于系统开销与原先基本无差别，因为</a:t>
            </a:r>
            <a:endParaRPr lang="zh-CN" altLang="en-US" dirty="0"/>
          </a:p>
          <a:p>
            <a:pPr>
              <a:lnSpc>
                <a:spcPct val="100000"/>
              </a:lnSpc>
            </a:pPr>
            <a:r>
              <a:rPr lang="en-US" altLang="zh-CN" dirty="0">
                <a:sym typeface="+mn-ea"/>
              </a:rPr>
              <a:t>pwm_ir_tx_config</a:t>
            </a:r>
            <a:r>
              <a:rPr lang="zh-CN" altLang="en-US" dirty="0">
                <a:sym typeface="+mn-ea"/>
              </a:rPr>
              <a:t>如果前后两次发送基本参数</a:t>
            </a:r>
            <a:endParaRPr lang="zh-CN" altLang="en-US" dirty="0">
              <a:sym typeface="+mn-ea"/>
            </a:endParaRPr>
          </a:p>
          <a:p>
            <a:pPr>
              <a:lnSpc>
                <a:spcPct val="100000"/>
              </a:lnSpc>
            </a:pPr>
            <a:r>
              <a:rPr lang="en-US" altLang="zh-CN" dirty="0">
                <a:sym typeface="+mn-ea"/>
              </a:rPr>
              <a:t>(</a:t>
            </a:r>
            <a:r>
              <a:rPr lang="zh-CN" altLang="en-US" dirty="0">
                <a:sym typeface="+mn-ea"/>
              </a:rPr>
              <a:t>主要是频率，占空比不是上层下发</a:t>
            </a:r>
            <a:r>
              <a:rPr lang="en-US" altLang="zh-CN" dirty="0">
                <a:sym typeface="+mn-ea"/>
              </a:rPr>
              <a:t>)</a:t>
            </a:r>
            <a:r>
              <a:rPr lang="zh-CN" altLang="en-US" dirty="0">
                <a:sym typeface="+mn-ea"/>
              </a:rPr>
              <a:t>一致就会</a:t>
            </a:r>
            <a:endParaRPr lang="zh-CN" altLang="en-US" dirty="0">
              <a:sym typeface="+mn-ea"/>
            </a:endParaRPr>
          </a:p>
          <a:p>
            <a:pPr>
              <a:lnSpc>
                <a:spcPct val="100000"/>
              </a:lnSpc>
            </a:pPr>
            <a:r>
              <a:rPr lang="zh-CN" altLang="en-US" dirty="0">
                <a:sym typeface="+mn-ea"/>
              </a:rPr>
              <a:t>跳过配置直接发送。</a:t>
            </a:r>
            <a:endParaRPr lang="zh-CN" altLang="en-US" dirty="0"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17443" y="178904"/>
            <a:ext cx="14670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spc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分析过程</a:t>
            </a:r>
            <a:endParaRPr lang="zh-CN" altLang="en-US" sz="2400" b="1" spc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32449" y="807054"/>
            <a:ext cx="11390790" cy="23069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dirty="0"/>
              <a:t>二、</a:t>
            </a:r>
            <a:r>
              <a:rPr lang="en-US" altLang="zh-CN" dirty="0"/>
              <a:t>HAL </a:t>
            </a:r>
            <a:r>
              <a:rPr lang="zh-CN" altLang="en-US" dirty="0"/>
              <a:t>侧服务完善</a:t>
            </a:r>
            <a:endParaRPr lang="en-US" altLang="zh-CN" dirty="0"/>
          </a:p>
          <a:p>
            <a:pPr>
              <a:lnSpc>
                <a:spcPct val="100000"/>
              </a:lnSpc>
            </a:pPr>
            <a:r>
              <a:rPr lang="en-US" altLang="zh-CN" dirty="0"/>
              <a:t>HAL </a:t>
            </a:r>
            <a:r>
              <a:rPr lang="zh-CN" altLang="en-US" dirty="0"/>
              <a:t>层 </a:t>
            </a:r>
            <a:r>
              <a:rPr lang="en-US" altLang="zh-CN" dirty="0"/>
              <a:t>consumerir.c </a:t>
            </a:r>
            <a:r>
              <a:rPr lang="zh-CN" altLang="en-US" dirty="0"/>
              <a:t>承接用户空间（厂测工具与 </a:t>
            </a:r>
            <a:r>
              <a:rPr lang="en-US" altLang="zh-CN" dirty="0"/>
              <a:t>APK）</a:t>
            </a:r>
            <a:r>
              <a:rPr lang="zh-CN" altLang="en-US" dirty="0"/>
              <a:t>的红外发送请求，经 </a:t>
            </a:r>
            <a:r>
              <a:rPr lang="en-US" altLang="zh-CN" dirty="0"/>
              <a:t>lirc_dev.c </a:t>
            </a:r>
            <a:r>
              <a:rPr lang="zh-CN" altLang="en-US" dirty="0"/>
              <a:t>写入 /</a:t>
            </a:r>
            <a:r>
              <a:rPr lang="en-US" altLang="zh-CN" dirty="0"/>
              <a:t>dev/lirc0 </a:t>
            </a:r>
            <a:r>
              <a:rPr lang="zh-CN" altLang="en-US" dirty="0"/>
              <a:t>后触发底层 </a:t>
            </a:r>
            <a:r>
              <a:rPr lang="en-US" altLang="zh-CN" dirty="0"/>
              <a:t>transmit。</a:t>
            </a:r>
            <a:r>
              <a:rPr lang="zh-CN" altLang="en-US" dirty="0"/>
              <a:t>完善点集中在：</a:t>
            </a:r>
            <a:endParaRPr lang="zh-CN" altLang="en-US" dirty="0"/>
          </a:p>
          <a:p>
            <a:pPr>
              <a:lnSpc>
                <a:spcPct val="100000"/>
              </a:lnSpc>
            </a:pPr>
            <a:r>
              <a:rPr lang="zh-CN" altLang="en-US" dirty="0"/>
              <a:t>添加服务</a:t>
            </a:r>
            <a:endParaRPr lang="zh-CN" altLang="en-US" dirty="0"/>
          </a:p>
          <a:p>
            <a:pPr>
              <a:lnSpc>
                <a:spcPct val="100000"/>
              </a:lnSpc>
            </a:pPr>
            <a:r>
              <a:rPr lang="zh-CN" altLang="en-US" dirty="0"/>
              <a:t>完善基本流程</a:t>
            </a:r>
            <a:endParaRPr lang="zh-CN" altLang="en-US" dirty="0"/>
          </a:p>
          <a:p>
            <a:pPr>
              <a:lnSpc>
                <a:spcPct val="100000"/>
              </a:lnSpc>
            </a:pPr>
            <a:r>
              <a:rPr lang="zh-CN" altLang="en-US" dirty="0"/>
              <a:t>调用路径统一</a:t>
            </a:r>
            <a:endParaRPr lang="zh-CN" altLang="en-US" dirty="0"/>
          </a:p>
          <a:p>
            <a:pPr>
              <a:lnSpc>
                <a:spcPct val="100000"/>
              </a:lnSpc>
            </a:pPr>
            <a:r>
              <a:rPr lang="zh-CN" altLang="en-US" dirty="0"/>
              <a:t>添加</a:t>
            </a:r>
            <a:r>
              <a:rPr lang="en-US" altLang="zh-CN" dirty="0"/>
              <a:t>log</a:t>
            </a:r>
            <a:r>
              <a:rPr lang="zh-CN" altLang="en-US" dirty="0"/>
              <a:t>方便调试和</a:t>
            </a:r>
            <a:r>
              <a:rPr lang="zh-CN" altLang="en-US" dirty="0"/>
              <a:t>管理</a:t>
            </a:r>
            <a:endParaRPr lang="zh-CN" altLang="en-US" dirty="0"/>
          </a:p>
          <a:p>
            <a:pPr>
              <a:lnSpc>
                <a:spcPct val="100000"/>
              </a:lnSpc>
            </a:pPr>
            <a:r>
              <a:rPr lang="zh-CN" altLang="en-US" dirty="0"/>
              <a:t>完善</a:t>
            </a:r>
            <a:r>
              <a:rPr lang="en-US" altLang="zh-CN" dirty="0"/>
              <a:t>selinux</a:t>
            </a:r>
            <a:r>
              <a:rPr lang="zh-CN" altLang="en-US" dirty="0"/>
              <a:t>权限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417443" y="178904"/>
            <a:ext cx="14670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spc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分析过程</a:t>
            </a:r>
            <a:endParaRPr lang="zh-CN" altLang="en-US" sz="2400" b="1" spc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144520" y="1638300"/>
            <a:ext cx="8579485" cy="10871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dirty="0"/>
              <a:t>完善hal侧上传代码如下：</a:t>
            </a:r>
            <a:endParaRPr lang="zh-CN" altLang="en-US" dirty="0">
              <a:hlinkClick r:id="rId1"/>
            </a:endParaRPr>
          </a:p>
          <a:p>
            <a:r>
              <a:rPr lang="en-US" altLang="zh-CN" dirty="0">
                <a:hlinkClick r:id="rId1"/>
              </a:rPr>
              <a:t>http://192.168.117.71/#/c/74200/</a:t>
            </a:r>
            <a:endParaRPr lang="en-US" altLang="zh-CN" dirty="0">
              <a:hlinkClick r:id="rId1"/>
            </a:endParaRPr>
          </a:p>
          <a:p>
            <a:r>
              <a:rPr lang="en-US" altLang="zh-CN" dirty="0">
                <a:hlinkClick r:id="rId1"/>
              </a:rPr>
              <a:t>http://192.168.117.71/#/c/74201/</a:t>
            </a:r>
            <a:endParaRPr lang="en-US" altLang="zh-CN" dirty="0">
              <a:hlinkClick r:id="rId1"/>
            </a:endParaRPr>
          </a:p>
          <a:p>
            <a:r>
              <a:rPr lang="en-US" altLang="zh-CN" dirty="0">
                <a:hlinkClick r:id="rId1"/>
              </a:rPr>
              <a:t>http://192.168.117.71/#/c/74202/</a:t>
            </a:r>
            <a:endParaRPr lang="en-US" altLang="zh-CN" dirty="0">
              <a:hlinkClick r:id="rId1"/>
            </a:endParaRPr>
          </a:p>
          <a:p>
            <a:r>
              <a:rPr lang="en-US" altLang="zh-CN" dirty="0">
                <a:hlinkClick r:id="rId1"/>
              </a:rPr>
              <a:t>http://192.168.117.71/#/c/74203/</a:t>
            </a:r>
            <a:endParaRPr lang="en-US" altLang="zh-CN" dirty="0">
              <a:hlinkClick r:id="rId1"/>
            </a:endParaRPr>
          </a:p>
          <a:p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195" y="3114040"/>
            <a:ext cx="5888355" cy="14859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195" y="5078095"/>
            <a:ext cx="5343525" cy="54292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4915" y="3114040"/>
            <a:ext cx="5539105" cy="33045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泪滴形 34"/>
          <p:cNvSpPr/>
          <p:nvPr/>
        </p:nvSpPr>
        <p:spPr>
          <a:xfrm rot="10784163">
            <a:off x="3910172" y="2889005"/>
            <a:ext cx="1269666" cy="1143243"/>
          </a:xfrm>
          <a:prstGeom prst="teardrop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6" name="组合 35"/>
          <p:cNvGrpSpPr/>
          <p:nvPr/>
        </p:nvGrpSpPr>
        <p:grpSpPr>
          <a:xfrm>
            <a:off x="3978182" y="2858671"/>
            <a:ext cx="4753763" cy="1092607"/>
            <a:chOff x="121371" y="710376"/>
            <a:chExt cx="4416954" cy="1092607"/>
          </a:xfrm>
        </p:grpSpPr>
        <p:sp>
          <p:nvSpPr>
            <p:cNvPr id="37" name="文本框 36"/>
            <p:cNvSpPr txBox="1"/>
            <p:nvPr/>
          </p:nvSpPr>
          <p:spPr>
            <a:xfrm>
              <a:off x="121371" y="787320"/>
              <a:ext cx="1053324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6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04</a:t>
              </a:r>
              <a:endParaRPr lang="zh-CN" altLang="en-US" sz="6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2089139" y="710376"/>
              <a:ext cx="177646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解决方案</a:t>
              </a:r>
              <a:endPara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39" name="直接连接符 38"/>
            <p:cNvCxnSpPr/>
            <p:nvPr/>
          </p:nvCxnSpPr>
          <p:spPr>
            <a:xfrm>
              <a:off x="1617111" y="1346257"/>
              <a:ext cx="2921214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17443" y="178904"/>
            <a:ext cx="14670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spc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解决方案</a:t>
            </a:r>
            <a:endParaRPr lang="zh-CN" altLang="en-US" sz="2400" b="1" spc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17442" y="996381"/>
            <a:ext cx="11400389" cy="2861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针对红外灯概率性不亮问题，在驱动侧调整 </a:t>
            </a:r>
            <a:r>
              <a:rPr lang="en-US" altLang="zh-CN" dirty="0"/>
              <a:t>PWM </a:t>
            </a:r>
            <a:r>
              <a:rPr lang="zh-CN" altLang="en-US" dirty="0"/>
              <a:t>配置时序，放弃"</a:t>
            </a:r>
            <a:r>
              <a:rPr lang="en-US" altLang="zh-CN" dirty="0"/>
              <a:t>probe </a:t>
            </a:r>
            <a:r>
              <a:rPr lang="zh-CN" altLang="en-US" dirty="0"/>
              <a:t>中配置、</a:t>
            </a:r>
            <a:r>
              <a:rPr lang="en-US" altLang="zh-CN" dirty="0"/>
              <a:t>transmit </a:t>
            </a:r>
            <a:r>
              <a:rPr lang="zh-CN" altLang="en-US" dirty="0"/>
              <a:t>仅切换"的原始方案及"首次发送置标志位"的折中方案，改为每次 </a:t>
            </a:r>
            <a:r>
              <a:rPr lang="en-US" altLang="zh-CN" dirty="0"/>
              <a:t>transmit </a:t>
            </a:r>
            <a:r>
              <a:rPr lang="zh-CN" altLang="en-US" dirty="0"/>
              <a:t>调用 </a:t>
            </a:r>
            <a:r>
              <a:rPr lang="en-US" altLang="zh-CN" dirty="0"/>
              <a:t>pwm_ir_tx_config </a:t>
            </a:r>
            <a:r>
              <a:rPr lang="zh-CN" altLang="en-US" dirty="0"/>
              <a:t>刷新硬件状态，彻底消除 </a:t>
            </a:r>
            <a:r>
              <a:rPr lang="en-US" altLang="zh-CN" dirty="0"/>
              <a:t>probe </a:t>
            </a:r>
            <a:r>
              <a:rPr lang="zh-CN" altLang="en-US" dirty="0"/>
              <a:t>阶段配置流程覆盖导致的配置丢失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针对 </a:t>
            </a:r>
            <a:r>
              <a:rPr lang="en-US" altLang="zh-CN" dirty="0"/>
              <a:t>GPIO </a:t>
            </a:r>
            <a:r>
              <a:rPr lang="zh-CN" altLang="en-US" dirty="0"/>
              <a:t>模拟 </a:t>
            </a:r>
            <a:r>
              <a:rPr lang="en-US" altLang="zh-CN" dirty="0"/>
              <a:t>PWM </a:t>
            </a:r>
            <a:r>
              <a:rPr lang="zh-CN" altLang="en-US" dirty="0"/>
              <a:t>发送机制选型，对比 </a:t>
            </a:r>
            <a:r>
              <a:rPr lang="en-US" altLang="zh-CN" dirty="0"/>
              <a:t>hrtimer </a:t>
            </a:r>
            <a:r>
              <a:rPr lang="zh-CN" altLang="en-US" dirty="0"/>
              <a:t>定时器（中断抖动导致 38</a:t>
            </a:r>
            <a:r>
              <a:rPr lang="en-US" altLang="zh-CN" dirty="0"/>
              <a:t>kHz </a:t>
            </a:r>
            <a:r>
              <a:rPr lang="zh-CN" altLang="en-US" dirty="0"/>
              <a:t>载波精度不足）、</a:t>
            </a:r>
            <a:r>
              <a:rPr lang="en-US" altLang="zh-CN" dirty="0"/>
              <a:t>CPU </a:t>
            </a:r>
            <a:r>
              <a:rPr lang="zh-CN" altLang="en-US" dirty="0"/>
              <a:t>轮询（占用 </a:t>
            </a:r>
            <a:r>
              <a:rPr lang="en-US" altLang="zh-CN" dirty="0"/>
              <a:t>CPU </a:t>
            </a:r>
            <a:r>
              <a:rPr lang="zh-CN" altLang="en-US" dirty="0"/>
              <a:t>造成系统卡顿）、</a:t>
            </a:r>
            <a:r>
              <a:rPr lang="en-US" altLang="zh-CN" dirty="0"/>
              <a:t>busy-wait </a:t>
            </a:r>
            <a:r>
              <a:rPr lang="zh-CN" altLang="en-US" dirty="0"/>
              <a:t>三种方案后，最终采用 </a:t>
            </a:r>
            <a:r>
              <a:rPr lang="en-US" altLang="zh-CN" dirty="0"/>
              <a:t>pwm_enable/disable + udelay </a:t>
            </a:r>
            <a:r>
              <a:rPr lang="zh-CN" altLang="en-US" dirty="0"/>
              <a:t>的忙等方案，载波由 </a:t>
            </a:r>
            <a:r>
              <a:rPr lang="en-US" altLang="zh-CN" dirty="0"/>
              <a:t>PWM </a:t>
            </a:r>
            <a:r>
              <a:rPr lang="zh-CN" altLang="en-US" dirty="0"/>
              <a:t>硬件生成、</a:t>
            </a:r>
            <a:r>
              <a:rPr lang="en-US" altLang="zh-CN" dirty="0"/>
              <a:t>CPU </a:t>
            </a:r>
            <a:r>
              <a:rPr lang="zh-CN" altLang="en-US" dirty="0"/>
              <a:t>仅控制脉冲切换点，兼顾微秒级时序精度与系统流畅度。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针对硬件</a:t>
            </a:r>
            <a:r>
              <a:rPr lang="en-US" altLang="zh-CN" dirty="0"/>
              <a:t>bug</a:t>
            </a:r>
            <a:r>
              <a:rPr lang="zh-CN" altLang="en-US" dirty="0"/>
              <a:t>导致的刷机过程中红外常量和开机出现的</a:t>
            </a:r>
            <a:r>
              <a:rPr lang="en-US" altLang="zh-CN" dirty="0"/>
              <a:t>1s</a:t>
            </a:r>
            <a:r>
              <a:rPr lang="zh-CN" altLang="en-US" dirty="0"/>
              <a:t>左右红外灯亮的问题，设备树 </a:t>
            </a:r>
            <a:r>
              <a:rPr lang="en-US" altLang="zh-CN" dirty="0"/>
              <a:t>pinctrl </a:t>
            </a:r>
            <a:r>
              <a:rPr lang="zh-CN" altLang="en-US" dirty="0"/>
              <a:t>中将 </a:t>
            </a:r>
            <a:r>
              <a:rPr lang="en-US" altLang="zh-CN" dirty="0"/>
              <a:t>GPIO70 </a:t>
            </a:r>
            <a:r>
              <a:rPr lang="zh-CN" altLang="en-US" dirty="0"/>
              <a:t>与 </a:t>
            </a:r>
            <a:r>
              <a:rPr lang="en-US" altLang="zh-CN" dirty="0"/>
              <a:t>GPIO142 </a:t>
            </a:r>
            <a:r>
              <a:rPr lang="zh-CN" altLang="en-US" dirty="0"/>
              <a:t>统一配置，该芯片</a:t>
            </a:r>
            <a:r>
              <a:rPr lang="en-US" altLang="zh-CN" dirty="0"/>
              <a:t>GPIO70</a:t>
            </a:r>
            <a:r>
              <a:rPr lang="zh-CN" altLang="en-US" dirty="0"/>
              <a:t>空板默认状态高，后续贴片调整</a:t>
            </a:r>
            <a:r>
              <a:rPr lang="en-US" altLang="zh-CN" dirty="0"/>
              <a:t>GPIO142</a:t>
            </a:r>
            <a:r>
              <a:rPr lang="zh-CN" altLang="en-US" dirty="0"/>
              <a:t>口即可解决问题</a:t>
            </a:r>
            <a:r>
              <a:rPr lang="en-US" altLang="zh-CN" dirty="0"/>
              <a:t>(</a:t>
            </a:r>
            <a:r>
              <a:rPr lang="zh-CN" altLang="en-US" dirty="0"/>
              <a:t>平台</a:t>
            </a:r>
            <a:r>
              <a:rPr lang="zh-CN" altLang="en-US" dirty="0"/>
              <a:t>芯片特有问题</a:t>
            </a:r>
            <a:r>
              <a:rPr lang="en-US" altLang="zh-CN" dirty="0"/>
              <a:t>)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泪滴形 34"/>
          <p:cNvSpPr/>
          <p:nvPr/>
        </p:nvSpPr>
        <p:spPr>
          <a:xfrm rot="10784163">
            <a:off x="3910172" y="2889005"/>
            <a:ext cx="1269666" cy="1143243"/>
          </a:xfrm>
          <a:prstGeom prst="teardrop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6" name="组合 35"/>
          <p:cNvGrpSpPr/>
          <p:nvPr/>
        </p:nvGrpSpPr>
        <p:grpSpPr>
          <a:xfrm>
            <a:off x="3978182" y="2858671"/>
            <a:ext cx="5841680" cy="1092607"/>
            <a:chOff x="121371" y="710376"/>
            <a:chExt cx="5427791" cy="1092607"/>
          </a:xfrm>
        </p:grpSpPr>
        <p:sp>
          <p:nvSpPr>
            <p:cNvPr id="37" name="文本框 36"/>
            <p:cNvSpPr txBox="1"/>
            <p:nvPr/>
          </p:nvSpPr>
          <p:spPr>
            <a:xfrm>
              <a:off x="121371" y="787320"/>
              <a:ext cx="1053324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6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05</a:t>
              </a:r>
              <a:endParaRPr lang="zh-CN" altLang="en-US" sz="6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1395427" y="710376"/>
              <a:ext cx="415373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39" name="直接连接符 38"/>
            <p:cNvCxnSpPr/>
            <p:nvPr/>
          </p:nvCxnSpPr>
          <p:spPr>
            <a:xfrm>
              <a:off x="1617111" y="1346257"/>
              <a:ext cx="2921214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9" name="文本框 8"/>
          <p:cNvSpPr txBox="1"/>
          <p:nvPr/>
        </p:nvSpPr>
        <p:spPr>
          <a:xfrm>
            <a:off x="5061154" y="2858672"/>
            <a:ext cx="41105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endParaRPr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55793" y="908638"/>
            <a:ext cx="11444664" cy="23069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1.PWM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红外发送的硬件配置不能依赖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probe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阶段的一次性设置，应在每次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transmit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中强制刷新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carrier/duty_cycle，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避免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rprobe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阶段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繁忙导致配置丢失。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2.GPIO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模拟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PWM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时优先选用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busy-wait（pwm_enable/disable + udelay）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方案，放弃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hrtimer（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中断抖动影响 38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kHz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载波精度）与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轮询（卡顿）方案，由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PWM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硬件生成载波、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仅控制脉冲切换点。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平台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GPIO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空板默认电平导致的刷机常亮、开机 1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亮灯等异常，属于硬件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BOM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特有问题，应通过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pinctrl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统一 状态并在贴片阶段切换到默认态正确的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GPIO（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GPIO70→GPIO142）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解决。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7443" y="178904"/>
            <a:ext cx="8258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spc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endParaRPr lang="zh-CN" altLang="en-US" sz="2400" b="1" spc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C:\Users\Administrator\Desktop\图片12.png图片1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2952</Words>
  <Application>WPS 演示</Application>
  <PresentationFormat>宽屏</PresentationFormat>
  <Paragraphs>129</Paragraphs>
  <Slides>16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3" baseType="lpstr">
      <vt:lpstr>Arial</vt:lpstr>
      <vt:lpstr>宋体</vt:lpstr>
      <vt:lpstr>Wingdings</vt:lpstr>
      <vt:lpstr>微软雅黑</vt:lpstr>
      <vt:lpstr>Arial Unicode MS</vt:lpstr>
      <vt:lpstr>Calibri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孙宁</dc:creator>
  <cp:lastModifiedBy>msk</cp:lastModifiedBy>
  <cp:revision>2436</cp:revision>
  <dcterms:created xsi:type="dcterms:W3CDTF">2017-05-23T02:23:00Z</dcterms:created>
  <dcterms:modified xsi:type="dcterms:W3CDTF">2026-09-07T01:58:19Z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16358B5FBBE24FECB0C4538D306BFE70_13</vt:lpwstr>
  </property>
</Properties>
</file>